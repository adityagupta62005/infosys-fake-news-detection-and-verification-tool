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"/>
      <p:regular r:id="rId17"/>
    </p:embeddedFont>
    <p:embeddedFont>
      <p:font typeface="Kanit"/>
      <p:regular r:id="rId18"/>
    </p:embeddedFont>
    <p:embeddedFont>
      <p:font typeface="Kanit"/>
      <p:regular r:id="rId19"/>
    </p:embeddedFont>
    <p:embeddedFont>
      <p:font typeface="Kanit"/>
      <p:regular r:id="rId20"/>
    </p:embeddedFont>
    <p:embeddedFont>
      <p:font typeface="Martel Sans Light"/>
      <p:regular r:id="rId21"/>
    </p:embeddedFont>
    <p:embeddedFont>
      <p:font typeface="Martel Sans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55900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TruthGuard: AI-Powered Fake News Detection &amp; Verification Tool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766780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Infosys Springboard Virtual Internship 6.0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24124" y="525232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Name: Aditya Gupta          Batch 10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590454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Fighting misinformation with intelligent automation for a safer digital society.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30668"/>
            <a:ext cx="1092267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Escalating Challenge of Misinformation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13434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pervasive spread of misinformation across social media platforms poses a significant threat to informed public discourse and societal stability. The sheer volume and velocity of content render traditional, manual fact-checking methods unsustainable and unable to scale effectively.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4131707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244" y="4131707"/>
            <a:ext cx="121920" cy="25672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959" y="440150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Rapid Dissemination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98959" y="4897041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Misinformation spreads exponentially faster than verified truths, often leveraging emotional appeals.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4131707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93" y="4131707"/>
            <a:ext cx="121920" cy="2567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97009" y="440150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Manual Limitations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597009" y="4897041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Human fact-checkers are overwhelmed by the scale, leading to delays and missed critical instances.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9633823" y="4131707"/>
            <a:ext cx="4158853" cy="2567226"/>
          </a:xfrm>
          <a:prstGeom prst="roundRect">
            <a:avLst>
              <a:gd name="adj" fmla="val 569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343" y="4131707"/>
            <a:ext cx="121920" cy="25672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95059" y="440150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Erosion of Trust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995059" y="4897041"/>
            <a:ext cx="35278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Unchecked falsehoods undermine public trust in institutions, media, and shared realities.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8664"/>
            <a:ext cx="857762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TruthGuard: Key Project Outcomes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21431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TruthGuard delivers a robust, automated solution designed to combat misinformation through intelligent verification and clear insights.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289459"/>
            <a:ext cx="421040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Automated Credibility Assessment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4136946"/>
            <a:ext cx="42104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Provides a precise 0-1 score, indicating content trustworthiness.</a:t>
            </a:r>
            <a:endParaRPr lang="en-US" sz="1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31" y="2956679"/>
            <a:ext cx="4534138" cy="453413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266" y="4229814"/>
            <a:ext cx="336590" cy="336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82269" y="3273862"/>
            <a:ext cx="282821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Real-Time Verification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582269" y="3769400"/>
            <a:ext cx="421040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Leverages external APIs for instantaneous data cross-referencing.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31" y="2956679"/>
            <a:ext cx="4534138" cy="453413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2306" y="4229814"/>
            <a:ext cx="336590" cy="3365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82269" y="591192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Explainable AI (XAI)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582269" y="6407468"/>
            <a:ext cx="42104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Highlights specific suspicious text segments for user understanding.</a:t>
            </a:r>
            <a:endParaRPr lang="en-US" sz="1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31" y="2956679"/>
            <a:ext cx="4534138" cy="453413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2306" y="5880854"/>
            <a:ext cx="336590" cy="33659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231946" y="591192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High Performance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837724" y="6407468"/>
            <a:ext cx="42104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Achieves verification responses in under 100 milliseconds.</a:t>
            </a:r>
            <a:endParaRPr lang="en-US" sz="18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131" y="2956679"/>
            <a:ext cx="4534138" cy="4534138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21266" y="5880854"/>
            <a:ext cx="336590" cy="336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3662" y="525066"/>
            <a:ext cx="8595479" cy="55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TruthGuard: Modular Architecture Overview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673662" y="1461492"/>
            <a:ext cx="11283077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TruthGuard is structured into seven distinct modules, each responsible for a critical aspect of the detection and verification process.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673662" y="2281118"/>
            <a:ext cx="189428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662" y="2580203"/>
            <a:ext cx="3634740" cy="22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73662" y="2720578"/>
            <a:ext cx="222980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User Authentication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673662" y="3113008"/>
            <a:ext cx="3634740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Secure login and session management for authorized access.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97830" y="2281118"/>
            <a:ext cx="189428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830" y="2580203"/>
            <a:ext cx="3634740" cy="22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97830" y="2720578"/>
            <a:ext cx="275427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Input Processing (Text/URL)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497830" y="3113008"/>
            <a:ext cx="3634740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Handles diverse input formats, preparing them for analysis.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9321998" y="2281118"/>
            <a:ext cx="189428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998" y="2580203"/>
            <a:ext cx="3634740" cy="228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1998" y="2720578"/>
            <a:ext cx="2468047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NLP &amp; Feature Extraction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321998" y="3113008"/>
            <a:ext cx="3634740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Extracts linguistic and contextual features crucial for credibility assessment.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673662" y="4354235"/>
            <a:ext cx="189428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662" y="4634389"/>
            <a:ext cx="3634740" cy="22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73662" y="4793694"/>
            <a:ext cx="222980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Classification (Hybrid)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1673662" y="5186124"/>
            <a:ext cx="3634740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Combines rule-based logic with advanced AI models for robust detection.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5497830" y="4354235"/>
            <a:ext cx="189428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4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7830" y="4653320"/>
            <a:ext cx="3634740" cy="228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97830" y="4793694"/>
            <a:ext cx="222980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Claim Verification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5497830" y="5186124"/>
            <a:ext cx="3634740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Cross-references information with external, reliable sources.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321998" y="4354235"/>
            <a:ext cx="189428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4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1998" y="4653320"/>
            <a:ext cx="3634740" cy="228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321998" y="4793694"/>
            <a:ext cx="222980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Explainability</a:t>
            </a:r>
            <a:endParaRPr lang="en-US" sz="1750" dirty="0"/>
          </a:p>
        </p:txBody>
      </p:sp>
      <p:sp>
        <p:nvSpPr>
          <p:cNvPr id="27" name="Text 19"/>
          <p:cNvSpPr/>
          <p:nvPr/>
        </p:nvSpPr>
        <p:spPr>
          <a:xfrm>
            <a:off x="9321998" y="5186124"/>
            <a:ext cx="3634740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Provides transparency by pinpointing reasons for a credibility score.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1673662" y="6427351"/>
            <a:ext cx="189428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07</a:t>
            </a:r>
            <a:endParaRPr lang="en-US" sz="14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662" y="6688574"/>
            <a:ext cx="11283077" cy="228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673662" y="6866811"/>
            <a:ext cx="222980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Admin Dashboard</a:t>
            </a:r>
            <a:endParaRPr lang="en-US" sz="1750" dirty="0"/>
          </a:p>
        </p:txBody>
      </p:sp>
      <p:sp>
        <p:nvSpPr>
          <p:cNvPr id="31" name="Text 22"/>
          <p:cNvSpPr/>
          <p:nvPr/>
        </p:nvSpPr>
        <p:spPr>
          <a:xfrm>
            <a:off x="1673662" y="7259241"/>
            <a:ext cx="112830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Centralized control panel for system monitoring and management.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2537" y="560070"/>
            <a:ext cx="6942773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TruthGuard: System Architecture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252537" y="1566386"/>
            <a:ext cx="12125325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Our 4-layer architecture ensures scalability, maintainability, and robust performance.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537" y="2121337"/>
            <a:ext cx="12125325" cy="55491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34412" y="2834530"/>
            <a:ext cx="2524315" cy="31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Business Logic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134412" y="3245252"/>
            <a:ext cx="2956458" cy="53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FastNewsDetector and GeminiAssistant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32947" y="4658474"/>
            <a:ext cx="2524314" cy="31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Access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39227" y="5069196"/>
            <a:ext cx="2718034" cy="53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SQLAlchemy ORM manages DB interactions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134412" y="5600248"/>
            <a:ext cx="2524315" cy="31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Core Storage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134412" y="6010971"/>
            <a:ext cx="2956458" cy="53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SQLite for durable local storage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6435" y="495062"/>
            <a:ext cx="7485102" cy="52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Technology Stack: Powering TruthGuard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956435" y="1384578"/>
            <a:ext cx="10717411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TruthGuard leverages a modern and efficient tech stack to deliver its advanced capabilities.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56435" y="1875115"/>
            <a:ext cx="540068" cy="540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56435" y="2640211"/>
            <a:ext cx="2118003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Python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956435" y="3012877"/>
            <a:ext cx="5246132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Primary language for development and AI model implementation.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595" y="1875115"/>
            <a:ext cx="540068" cy="540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7595" y="2640211"/>
            <a:ext cx="2118003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Flask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427595" y="3012877"/>
            <a:ext cx="5246251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Lightweight web framework for rapid API and web interface development.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6435" y="3948946"/>
            <a:ext cx="540068" cy="5400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56435" y="4714042"/>
            <a:ext cx="2118003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Google Gemini AI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956435" y="5086707"/>
            <a:ext cx="5246132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Advanced AI for sophisticated natural language understanding and generation.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7595" y="3948946"/>
            <a:ext cx="540068" cy="5400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7595" y="4714042"/>
            <a:ext cx="2118003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NLTK/spaCy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427595" y="5086707"/>
            <a:ext cx="5246251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Robust NLP libraries for text processing and feature extraction.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6435" y="6022777"/>
            <a:ext cx="540068" cy="5400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56435" y="6787872"/>
            <a:ext cx="2118003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Bootstrap 5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956435" y="7160538"/>
            <a:ext cx="5246132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Responsive front-end framework for a clean and intuitive user interface.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7595" y="6022777"/>
            <a:ext cx="540068" cy="5400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7595" y="6787872"/>
            <a:ext cx="2118003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SQLite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7427595" y="7160538"/>
            <a:ext cx="5246251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Lightweight, file-based database for efficient data storage.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5118" y="897493"/>
            <a:ext cx="6743105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TruthGuard: Database Schema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945118" y="1954887"/>
            <a:ext cx="12740164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well-defined database structure is critical for efficient data management and retrieval.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945118" y="2538055"/>
            <a:ext cx="12740164" cy="4793933"/>
          </a:xfrm>
          <a:prstGeom prst="roundRect">
            <a:avLst>
              <a:gd name="adj" fmla="val 67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738" y="2545675"/>
            <a:ext cx="12724924" cy="103298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66693" y="2681645"/>
            <a:ext cx="274951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351734" y="2681645"/>
            <a:ext cx="2745700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Stores user authentication details.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32965" y="2681645"/>
            <a:ext cx="2745700" cy="761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714196" y="2681645"/>
            <a:ext cx="2749510" cy="38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One-to-many with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2738" y="3578662"/>
            <a:ext cx="12724924" cy="14135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66693" y="3714631"/>
            <a:ext cx="274951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Analysis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351734" y="3714631"/>
            <a:ext cx="2745700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Records each content analysis, classification, and score.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32965" y="3714631"/>
            <a:ext cx="2745700" cy="1141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input_text/url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14196" y="3714631"/>
            <a:ext cx="2749510" cy="1103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Many-to-one with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One-to-one with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GeminiChat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52738" y="4992172"/>
            <a:ext cx="12724924" cy="12992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66693" y="5128141"/>
            <a:ext cx="274951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GeminiChat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351734" y="5128141"/>
            <a:ext cx="2745700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Logs interactions with the Gemini AI for explainability.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532965" y="5128141"/>
            <a:ext cx="2745700" cy="761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analysis_id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714196" y="5128141"/>
            <a:ext cx="2749510" cy="38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Many-to-one with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738" y="6291382"/>
            <a:ext cx="12724924" cy="103298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66693" y="6427351"/>
            <a:ext cx="274951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VerificationResults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351734" y="6427351"/>
            <a:ext cx="2745700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Stores outcomes from real-time API verifications.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532965" y="6427351"/>
            <a:ext cx="2745700" cy="761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analysis_id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source_url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714196" y="6427351"/>
            <a:ext cx="274951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Many-to-one with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Analysis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0324" y="524470"/>
            <a:ext cx="8327946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Algorithm Workflow: From Input to Insight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640324" y="1466493"/>
            <a:ext cx="11349633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TruthGuard employs a multi-stage workflow to efficiently and accurately assess content credibility.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324" y="1985843"/>
            <a:ext cx="953214" cy="11438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84158" y="2176463"/>
            <a:ext cx="224301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Input Received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784158" y="2571155"/>
            <a:ext cx="1020579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 submits text or URL for analysis.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324" y="3129677"/>
            <a:ext cx="953214" cy="11438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84158" y="3320296"/>
            <a:ext cx="224301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Cache Check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2784158" y="3714988"/>
            <a:ext cx="1020579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System checks if content has been analyzed recently.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324" y="4273510"/>
            <a:ext cx="953214" cy="11438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84158" y="4464129"/>
            <a:ext cx="224301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Rule-Based Detection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2784158" y="4858822"/>
            <a:ext cx="1020579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Initial screening for obvious fake news patterns and indicators.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324" y="5417344"/>
            <a:ext cx="953214" cy="11438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84158" y="5607963"/>
            <a:ext cx="224301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 Verification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2784158" y="6002655"/>
            <a:ext cx="1020579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Advanced NLP and Gemini AI models assess credibility.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324" y="6561177"/>
            <a:ext cx="953214" cy="114383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784158" y="6751796"/>
            <a:ext cx="224301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Output Generated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2784158" y="7146488"/>
            <a:ext cx="1020579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Credibility score, classification, and explainability provided.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1765" y="514826"/>
            <a:ext cx="8380690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Sample Output: Identifying Misinformation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741765" y="1439942"/>
            <a:ext cx="11146869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TruthGuard presents clear, actionable results to users, highlighting why content is deemed suspicious.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765" y="2160746"/>
            <a:ext cx="5345073" cy="5345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51182" y="2137291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"Fake News" Detected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551182" y="2654856"/>
            <a:ext cx="5345073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Confidence Score: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91.3%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51182" y="3122890"/>
            <a:ext cx="5345073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Reasons for Classification: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51182" y="3590925"/>
            <a:ext cx="5345073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Sensational Headline: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Uses exaggerated language to provoke emotional response.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51182" y="4255532"/>
            <a:ext cx="5345073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Lack of Credible Sources: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No verifiable links or expert citations to support claims.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51182" y="4920139"/>
            <a:ext cx="5345073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Emotional Language: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Text heavily relies on emotionally charged words rather than objective facts.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51182" y="5584746"/>
            <a:ext cx="5345073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Manipulated Visuals: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Image appears to be digitally altered or taken out of context.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51182" y="6249353"/>
            <a:ext cx="5345073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Disinformation Patterns: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Exhibits known characteristics of coordinated disinformation campaigns.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233" y="767477"/>
            <a:ext cx="7628334" cy="1273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TruthGuard: Securing the Digital Sphere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44233" y="2365653"/>
            <a:ext cx="762833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TruthGuard stands as a crucial tool in the fight against digital misinformation, ensuring content integrity and fostering a safer online environment.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233" y="3648551"/>
            <a:ext cx="7628334" cy="3813453"/>
          </a:xfrm>
          <a:prstGeom prst="roundRect">
            <a:avLst>
              <a:gd name="adj" fmla="val 852"/>
            </a:avLst>
          </a:prstGeom>
          <a:solidFill>
            <a:srgbClr val="2F2B54"/>
          </a:solidFill>
          <a:ln/>
        </p:spPr>
      </p:sp>
      <p:sp>
        <p:nvSpPr>
          <p:cNvPr id="6" name="Shape 3"/>
          <p:cNvSpPr/>
          <p:nvPr/>
        </p:nvSpPr>
        <p:spPr>
          <a:xfrm>
            <a:off x="6244233" y="3648551"/>
            <a:ext cx="3814167" cy="2239208"/>
          </a:xfrm>
          <a:prstGeom prst="roundRect">
            <a:avLst>
              <a:gd name="adj" fmla="val 1450"/>
            </a:avLst>
          </a:prstGeom>
          <a:solidFill>
            <a:srgbClr val="2F2B54"/>
          </a:solidFill>
          <a:ln/>
        </p:spPr>
      </p:sp>
      <p:sp>
        <p:nvSpPr>
          <p:cNvPr id="7" name="Text 4"/>
          <p:cNvSpPr/>
          <p:nvPr/>
        </p:nvSpPr>
        <p:spPr>
          <a:xfrm>
            <a:off x="6460688" y="3865007"/>
            <a:ext cx="3056453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Enhanced Content Integrity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60688" y="4631888"/>
            <a:ext cx="3056453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Automated, rapid analysis significantly reduces the spread of falsehoods.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0" y="3648551"/>
            <a:ext cx="3814167" cy="2239208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0" y="3648551"/>
            <a:ext cx="30480" cy="2239208"/>
          </a:xfrm>
          <a:prstGeom prst="roundRect">
            <a:avLst>
              <a:gd name="adj" fmla="val 106558"/>
            </a:avLst>
          </a:prstGeom>
          <a:solidFill>
            <a:srgbClr val="48446D"/>
          </a:solidFill>
          <a:ln/>
        </p:spPr>
      </p:sp>
      <p:sp>
        <p:nvSpPr>
          <p:cNvPr id="11" name="Text 8"/>
          <p:cNvSpPr/>
          <p:nvPr/>
        </p:nvSpPr>
        <p:spPr>
          <a:xfrm>
            <a:off x="10599658" y="3865007"/>
            <a:ext cx="254734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Safer Digital Society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599658" y="4313396"/>
            <a:ext cx="3056453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Empowers users with verifiable information, fostering critical thinking.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787771" y="4497467"/>
            <a:ext cx="541258" cy="541258"/>
          </a:xfrm>
          <a:prstGeom prst="roundRect">
            <a:avLst>
              <a:gd name="adj" fmla="val 6001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3026" y="4632722"/>
            <a:ext cx="270629" cy="27062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44233" y="5887760"/>
            <a:ext cx="7628334" cy="1574244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16" name="Shape 12"/>
          <p:cNvSpPr/>
          <p:nvPr/>
        </p:nvSpPr>
        <p:spPr>
          <a:xfrm>
            <a:off x="6244233" y="5887760"/>
            <a:ext cx="7628334" cy="30480"/>
          </a:xfrm>
          <a:prstGeom prst="roundRect">
            <a:avLst>
              <a:gd name="adj" fmla="val 106558"/>
            </a:avLst>
          </a:prstGeom>
          <a:solidFill>
            <a:srgbClr val="48446D"/>
          </a:solidFill>
          <a:ln/>
        </p:spPr>
      </p:sp>
      <p:sp>
        <p:nvSpPr>
          <p:cNvPr id="17" name="Text 13"/>
          <p:cNvSpPr/>
          <p:nvPr/>
        </p:nvSpPr>
        <p:spPr>
          <a:xfrm>
            <a:off x="6460688" y="6104215"/>
            <a:ext cx="254734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Hybrid AI Approach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460688" y="6552605"/>
            <a:ext cx="6870621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Combines rule-based efficiency with advanced AI intelligence for superior accuracy.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2026-01-10T13:48:15Z</dcterms:created>
  <dcterms:modified xsi:type="dcterms:W3CDTF">2026-01-10T13:48:15Z</dcterms:modified>
</cp:coreProperties>
</file>